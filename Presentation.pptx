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8" r:id="rId13"/>
    <p:sldId id="267" r:id="rId14"/>
    <p:sldId id="270" r:id="rId1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111A5-2AC9-493C-8637-DB57B0919A31}" v="4" dt="2026-09-01T09:42:26.020"/>
    <p1510:client id="{4453EFAD-3B19-42BF-9E4F-F03473B6E3A6}" v="2" dt="2026-09-01T09:45:02.493"/>
    <p1510:client id="{57C7D907-CB54-4B76-A18D-8F6CFA14C181}" v="88" dt="2026-09-01T09:33:24.888"/>
    <p1510:client id="{A196C289-3D34-4DE0-A5AA-F19EAA13E9FB}" v="146" dt="2026-09-01T11:55:34.708"/>
    <p1510:client id="{E6A84A60-E432-4769-A84C-EA1347E63245}" v="68" dt="2026-09-01T11:57:01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2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2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3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6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9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6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1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77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6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02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3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09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62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85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48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2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499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diseh04/Madgwick" TargetMode="External"/><Relationship Id="rId2" Type="http://schemas.openxmlformats.org/officeDocument/2006/relationships/hyperlink" Target="https://godotengin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adiseh04/Madgwick/blob/main/Lab%20B.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IMU sensor fusion and orientation estimation</a:t>
            </a:r>
            <a:endParaRPr lang="sv-SE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Lab: B4, HI1033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0728BEB-CEFE-5F15-128F-D0AEC118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Components of an IMU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2FFA73B-35B4-E82A-2CAA-DFB782903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Accelerometer measures linear acceleration and is affected by gravity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Gyroscope measures angular velocity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Magnetometer measures earth's magnetic field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Applications: 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smartphones, drones, vr systems, navigation systems, motion tracking</a:t>
            </a:r>
            <a:endParaRPr lang="sv-SE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303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DF97CF-7CB5-7D3D-9216-4631F669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Why sensor fusion?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95C008B-ACA2-9ACC-50BE-7BF7AD90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Imu sensors provide motion data but, raw measurements cointains errors:</a:t>
            </a: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Accelerometer is sensitive to noise and dynamic motion</a:t>
            </a: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Gyroscope is accurate short-term but drifts over time</a:t>
            </a: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Magnetometer is affected by magnetic interference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607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707A1C-157C-FCA6-A224-ADD0E43E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Orientation angles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E08F623-0431-9786-5BBB-E539C001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Pitch: rotation around the X-axis</a:t>
            </a:r>
            <a:b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(forward-bakward tilt)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Roll Rotation around the Y-axix</a:t>
            </a:r>
            <a:b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(sideways tilt)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Yaw: rotation around the z-axis</a:t>
            </a:r>
            <a:b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(rotation around the vertical axis</a:t>
            </a:r>
          </a:p>
        </p:txBody>
      </p:sp>
      <p:sp>
        <p:nvSpPr>
          <p:cNvPr id="12" name="Pil: uppåt 11">
            <a:extLst>
              <a:ext uri="{FF2B5EF4-FFF2-40B4-BE49-F238E27FC236}">
                <a16:creationId xmlns:a16="http://schemas.microsoft.com/office/drawing/2014/main" id="{4355C355-B905-1ACE-CB6E-17848732EC83}"/>
              </a:ext>
            </a:extLst>
          </p:cNvPr>
          <p:cNvSpPr/>
          <p:nvPr/>
        </p:nvSpPr>
        <p:spPr>
          <a:xfrm rot="10800000">
            <a:off x="7611164" y="4160718"/>
            <a:ext cx="314077" cy="68091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Pil: uppåt 12">
            <a:extLst>
              <a:ext uri="{FF2B5EF4-FFF2-40B4-BE49-F238E27FC236}">
                <a16:creationId xmlns:a16="http://schemas.microsoft.com/office/drawing/2014/main" id="{F8E51114-54CF-8BFF-499A-10E9A4FEE925}"/>
              </a:ext>
            </a:extLst>
          </p:cNvPr>
          <p:cNvSpPr/>
          <p:nvPr/>
        </p:nvSpPr>
        <p:spPr>
          <a:xfrm rot="-5400000">
            <a:off x="6748523" y="3312453"/>
            <a:ext cx="299699" cy="6090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Pil: uppåt 15">
            <a:extLst>
              <a:ext uri="{FF2B5EF4-FFF2-40B4-BE49-F238E27FC236}">
                <a16:creationId xmlns:a16="http://schemas.microsoft.com/office/drawing/2014/main" id="{79F2A7CE-AD52-EA3E-4FF0-C9B8343E45E4}"/>
              </a:ext>
            </a:extLst>
          </p:cNvPr>
          <p:cNvSpPr/>
          <p:nvPr/>
        </p:nvSpPr>
        <p:spPr>
          <a:xfrm rot="2700000">
            <a:off x="8344796" y="2233041"/>
            <a:ext cx="371584" cy="85343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sv-SE"/>
          </a:p>
        </p:txBody>
      </p:sp>
      <p:sp>
        <p:nvSpPr>
          <p:cNvPr id="17" name="Kub 16">
            <a:extLst>
              <a:ext uri="{FF2B5EF4-FFF2-40B4-BE49-F238E27FC236}">
                <a16:creationId xmlns:a16="http://schemas.microsoft.com/office/drawing/2014/main" id="{1145A6AD-64E8-3D7C-9677-6356088B7A30}"/>
              </a:ext>
            </a:extLst>
          </p:cNvPr>
          <p:cNvSpPr/>
          <p:nvPr/>
        </p:nvSpPr>
        <p:spPr>
          <a:xfrm>
            <a:off x="7035470" y="2663664"/>
            <a:ext cx="1489322" cy="158996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Pil: uppåt 18">
            <a:extLst>
              <a:ext uri="{FF2B5EF4-FFF2-40B4-BE49-F238E27FC236}">
                <a16:creationId xmlns:a16="http://schemas.microsoft.com/office/drawing/2014/main" id="{96973AE3-601C-BB4F-3E70-F916D1F7FDDC}"/>
              </a:ext>
            </a:extLst>
          </p:cNvPr>
          <p:cNvSpPr/>
          <p:nvPr/>
        </p:nvSpPr>
        <p:spPr>
          <a:xfrm rot="13500000">
            <a:off x="7033815" y="3402715"/>
            <a:ext cx="342830" cy="125600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sv-SE"/>
          </a:p>
        </p:txBody>
      </p:sp>
      <p:sp>
        <p:nvSpPr>
          <p:cNvPr id="20" name="Pil: uppåt 19">
            <a:extLst>
              <a:ext uri="{FF2B5EF4-FFF2-40B4-BE49-F238E27FC236}">
                <a16:creationId xmlns:a16="http://schemas.microsoft.com/office/drawing/2014/main" id="{A7BA207D-6245-3F07-25BA-5F5CA7E239D6}"/>
              </a:ext>
            </a:extLst>
          </p:cNvPr>
          <p:cNvSpPr/>
          <p:nvPr/>
        </p:nvSpPr>
        <p:spPr>
          <a:xfrm rot="5400000">
            <a:off x="8667900" y="3161487"/>
            <a:ext cx="357209" cy="8534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Pil: uppåt 20">
            <a:extLst>
              <a:ext uri="{FF2B5EF4-FFF2-40B4-BE49-F238E27FC236}">
                <a16:creationId xmlns:a16="http://schemas.microsoft.com/office/drawing/2014/main" id="{84F22937-DAD7-4CE7-5B27-641D5C0A60F3}"/>
              </a:ext>
            </a:extLst>
          </p:cNvPr>
          <p:cNvSpPr/>
          <p:nvPr/>
        </p:nvSpPr>
        <p:spPr>
          <a:xfrm>
            <a:off x="7611165" y="1817207"/>
            <a:ext cx="328453" cy="95408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F3AE5C50-71DA-B8F6-F9E4-591868353DAB}"/>
              </a:ext>
            </a:extLst>
          </p:cNvPr>
          <p:cNvSpPr txBox="1"/>
          <p:nvPr/>
        </p:nvSpPr>
        <p:spPr>
          <a:xfrm>
            <a:off x="6178061" y="3456586"/>
            <a:ext cx="3440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sv-SE"/>
              <a:t>x</a:t>
            </a:r>
          </a:p>
        </p:txBody>
      </p:sp>
      <p:sp>
        <p:nvSpPr>
          <p:cNvPr id="26" name="textruta 23">
            <a:extLst>
              <a:ext uri="{FF2B5EF4-FFF2-40B4-BE49-F238E27FC236}">
                <a16:creationId xmlns:a16="http://schemas.microsoft.com/office/drawing/2014/main" id="{AAB9A878-8DB3-2E05-8CB5-EC5DAE243CFC}"/>
              </a:ext>
            </a:extLst>
          </p:cNvPr>
          <p:cNvSpPr txBox="1"/>
          <p:nvPr/>
        </p:nvSpPr>
        <p:spPr>
          <a:xfrm>
            <a:off x="9398901" y="3430598"/>
            <a:ext cx="51693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v-SE"/>
              <a:t>x</a:t>
            </a:r>
          </a:p>
        </p:txBody>
      </p:sp>
      <p:sp>
        <p:nvSpPr>
          <p:cNvPr id="29" name="textruta 23">
            <a:extLst>
              <a:ext uri="{FF2B5EF4-FFF2-40B4-BE49-F238E27FC236}">
                <a16:creationId xmlns:a16="http://schemas.microsoft.com/office/drawing/2014/main" id="{3885FBD5-545C-60F8-3872-7A769CCC9F87}"/>
              </a:ext>
            </a:extLst>
          </p:cNvPr>
          <p:cNvSpPr txBox="1"/>
          <p:nvPr/>
        </p:nvSpPr>
        <p:spPr>
          <a:xfrm>
            <a:off x="7616108" y="4853956"/>
            <a:ext cx="51693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v-SE"/>
              <a:t>y</a:t>
            </a:r>
          </a:p>
        </p:txBody>
      </p:sp>
      <p:sp>
        <p:nvSpPr>
          <p:cNvPr id="30" name="textruta 23">
            <a:extLst>
              <a:ext uri="{FF2B5EF4-FFF2-40B4-BE49-F238E27FC236}">
                <a16:creationId xmlns:a16="http://schemas.microsoft.com/office/drawing/2014/main" id="{5E1AEDBC-EB9E-C303-10F3-5A4D41A7A1FB}"/>
              </a:ext>
            </a:extLst>
          </p:cNvPr>
          <p:cNvSpPr txBox="1"/>
          <p:nvPr/>
        </p:nvSpPr>
        <p:spPr>
          <a:xfrm>
            <a:off x="7673618" y="1460900"/>
            <a:ext cx="51693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v-SE"/>
              <a:t>y</a:t>
            </a:r>
          </a:p>
        </p:txBody>
      </p:sp>
      <p:sp>
        <p:nvSpPr>
          <p:cNvPr id="32" name="textruta 23">
            <a:extLst>
              <a:ext uri="{FF2B5EF4-FFF2-40B4-BE49-F238E27FC236}">
                <a16:creationId xmlns:a16="http://schemas.microsoft.com/office/drawing/2014/main" id="{6D58C925-DCC9-DF82-EC32-32759380B6CB}"/>
              </a:ext>
            </a:extLst>
          </p:cNvPr>
          <p:cNvSpPr txBox="1"/>
          <p:nvPr/>
        </p:nvSpPr>
        <p:spPr>
          <a:xfrm>
            <a:off x="6350901" y="4422636"/>
            <a:ext cx="51693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v-SE"/>
              <a:t>z</a:t>
            </a:r>
          </a:p>
        </p:txBody>
      </p:sp>
      <p:sp>
        <p:nvSpPr>
          <p:cNvPr id="33" name="textruta 23">
            <a:extLst>
              <a:ext uri="{FF2B5EF4-FFF2-40B4-BE49-F238E27FC236}">
                <a16:creationId xmlns:a16="http://schemas.microsoft.com/office/drawing/2014/main" id="{28C77C1B-AAFA-4AA9-D579-74315CC1050E}"/>
              </a:ext>
            </a:extLst>
          </p:cNvPr>
          <p:cNvSpPr txBox="1"/>
          <p:nvPr/>
        </p:nvSpPr>
        <p:spPr>
          <a:xfrm>
            <a:off x="8881316" y="2050372"/>
            <a:ext cx="51693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v-SE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40800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BC80656-F1C8-842E-E1C7-5B148629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Method 1: Accelerometer + EWMA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3A0C2A4-0AA3-45FE-569E-CD5BEFC91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Uses gravity for orientation estimation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Can estimate picth and roll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Sensitive to dynamic acceleration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Cannot estimate yaw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Sensitive to motion noise</a:t>
            </a:r>
          </a:p>
        </p:txBody>
      </p:sp>
      <p:pic>
        <p:nvPicPr>
          <p:cNvPr id="6" name="Bildobjekt 5" descr="En bild som visar Teckensnitt, text, Grafik, svart&#10;&#10;AI-genererat innehåll kan vara felaktigt.">
            <a:extLst>
              <a:ext uri="{FF2B5EF4-FFF2-40B4-BE49-F238E27FC236}">
                <a16:creationId xmlns:a16="http://schemas.microsoft.com/office/drawing/2014/main" id="{21F24834-4061-D9FA-600D-FE721DA6A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078" y="3426125"/>
            <a:ext cx="3819165" cy="78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6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5DA60A-7472-93EF-1CB8-EE415883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Method 2: complementary filter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6C3BF32-66A0-708C-F7FA-E9272F5FC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Combines:</a:t>
            </a:r>
            <a:endParaRPr lang="sv-SE"/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Accelerometer: long-term stability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Gyroskop: fast response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Advantages: smoother orientation estimation, better motion responsiveness</a:t>
            </a:r>
          </a:p>
          <a:p>
            <a:pPr marL="0" indent="0">
              <a:buNone/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Limitations: gyroscope drift over time, yaw instability during long-term rotation</a:t>
            </a:r>
          </a:p>
        </p:txBody>
      </p:sp>
      <p:pic>
        <p:nvPicPr>
          <p:cNvPr id="4" name="Bildobjekt 3" descr="En bild som visar Teckensnitt, typografi, text, Grafik&#10;&#10;AI-genererat innehåll kan vara felaktigt.">
            <a:extLst>
              <a:ext uri="{FF2B5EF4-FFF2-40B4-BE49-F238E27FC236}">
                <a16:creationId xmlns:a16="http://schemas.microsoft.com/office/drawing/2014/main" id="{CC8C3BFB-E55A-70D0-FB1B-91504218E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487" y="2941698"/>
            <a:ext cx="4729252" cy="5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2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AB680E0-71F6-7939-974E-20476A9B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Method 3: Madgwick algoritm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844F809-9F21-2603-6B1E-444E489C9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Combines: accelerometer, gyroskop and magnetometer data</a:t>
            </a:r>
            <a:endParaRPr lang="sv-SE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Estimates pitch, roll and yaw simultaneously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Features: quaternion-based orientation, real-time sensor fusion and stable yaw estimation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Fill 3d orientation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qt  = updated quaternion orientation </a:t>
            </a:r>
            <a:endParaRPr lang="sv-SE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q˙\dot{q}q˙  = gyroscope-based quaternion derivative </a:t>
            </a:r>
            <a:endParaRPr lang="sv-SE"/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Δt\Delta tΔt = sampling interval </a:t>
            </a:r>
            <a:endParaRPr lang="sv-SE"/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β\betaβ = correction factor </a:t>
            </a:r>
            <a:endParaRPr lang="sv-SE"/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∇f(q)\nabla f(q)∇f(q) = gradient descent correction</a:t>
            </a:r>
            <a:endParaRPr lang="sv-SE"/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Advantages: 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Full 3D orientation estimation, Reduced yaw drift, Low computational cost, Suitable for mobile systems</a:t>
            </a:r>
          </a:p>
          <a:p>
            <a:pPr>
              <a:buClr>
                <a:srgbClr val="FFFFFF"/>
              </a:buClr>
            </a:pP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Limitations: Sensitive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to magnetic interference, Requires magnetometer calibration, Yaw can become unstable in noisy environments</a:t>
            </a:r>
            <a:endParaRPr lang="sv-SE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sv-SE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29638C5-155C-089E-F38F-B5B2CBFD1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934" y="3919088"/>
            <a:ext cx="4079755" cy="64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6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5D1E95B-0682-BDA0-BC63-95D12489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Comparison</a:t>
            </a:r>
            <a:endParaRPr lang="sv-SE"/>
          </a:p>
        </p:txBody>
      </p:sp>
      <p:graphicFrame>
        <p:nvGraphicFramePr>
          <p:cNvPr id="4" name="Platshållare för innehåll 3">
            <a:extLst>
              <a:ext uri="{FF2B5EF4-FFF2-40B4-BE49-F238E27FC236}">
                <a16:creationId xmlns:a16="http://schemas.microsoft.com/office/drawing/2014/main" id="{C34500F7-E9BB-7423-3071-81F45E878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024302"/>
              </p:ext>
            </p:extLst>
          </p:nvPr>
        </p:nvGraphicFramePr>
        <p:xfrm>
          <a:off x="1141413" y="2667000"/>
          <a:ext cx="99060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92853890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65371624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88501869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60049493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371717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Pitch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Yaw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838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/>
                        <a:t>EWMA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28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/>
                        <a:t>Complementary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Acc + Gyro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Partial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86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/>
                        <a:t>Madgwick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Acc + Gyro + Mag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28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640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19591E6-0B23-9A3A-328F-952863C4E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Implementation Across mobile plattforms</a:t>
            </a:r>
            <a:endParaRPr lang="sv-SE"/>
          </a:p>
        </p:txBody>
      </p:sp>
      <p:graphicFrame>
        <p:nvGraphicFramePr>
          <p:cNvPr id="4" name="Platshållare för innehåll 3">
            <a:extLst>
              <a:ext uri="{FF2B5EF4-FFF2-40B4-BE49-F238E27FC236}">
                <a16:creationId xmlns:a16="http://schemas.microsoft.com/office/drawing/2014/main" id="{7BF95268-50DA-C5F6-CE5D-38EFAD6595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709327"/>
              </p:ext>
            </p:extLst>
          </p:nvPr>
        </p:nvGraphicFramePr>
        <p:xfrm>
          <a:off x="1141413" y="2667000"/>
          <a:ext cx="99060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03684597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879979148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10479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/>
                        <a:t>Plattform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Sensor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22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/>
                        <a:t>Android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SensorManager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/>
                        <a:t>Direct access to accelerometer, gyroscope and magnetometer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78099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/>
                        <a:t>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/>
                        <a:t>Core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/>
                        <a:t>Built-in motion tracking and sensor 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2948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/>
                        <a:t>React Native (Cross-plattform)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/>
                        <a:t>Expo Sensors / Native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/>
                        <a:t>Cross-plattform developement for Android and 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416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115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22D1433-62EB-DDF5-6980-408232C8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09600"/>
            <a:ext cx="4951411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Android implementation</a:t>
            </a:r>
            <a:endParaRPr lang="sv-S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719170-A8A5-49D2-9E6F-3A361420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9" y="0"/>
            <a:ext cx="5752095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865BA-016B-4484-AC52-5356C4682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675" y="609600"/>
            <a:ext cx="2764359" cy="336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latshållare för innehåll 4" descr="En bild som visar linje, Graf, diagram, Parallell&#10;&#10;AI-genererat innehåll kan vara felaktigt.">
            <a:extLst>
              <a:ext uri="{FF2B5EF4-FFF2-40B4-BE49-F238E27FC236}">
                <a16:creationId xmlns:a16="http://schemas.microsoft.com/office/drawing/2014/main" id="{391EB23F-F928-5E3D-715D-E30E30979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40" y="768485"/>
            <a:ext cx="1569544" cy="30550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B00E629-E117-44C1-8828-1FF3C4704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0697" y="609599"/>
            <a:ext cx="2203582" cy="23735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E7B47-347C-41D5-B753-02FDFB08D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675" y="4135378"/>
            <a:ext cx="2764359" cy="208254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62FFC-9160-409E-9C8F-1E934907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0698" y="3143998"/>
            <a:ext cx="2203582" cy="30739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latshållare för innehåll 5" descr="En bild som visar text, skärmbild&#10;&#10;AI-genererat innehåll kan vara felaktigt.">
            <a:extLst>
              <a:ext uri="{FF2B5EF4-FFF2-40B4-BE49-F238E27FC236}">
                <a16:creationId xmlns:a16="http://schemas.microsoft.com/office/drawing/2014/main" id="{EDDD2E1A-A524-4A27-0E1B-7A553CFE94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625364" y="3299381"/>
            <a:ext cx="1401440" cy="2757672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8240BB2-F0F2-FB9C-84E1-32A56AA0B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9" y="2666999"/>
            <a:ext cx="4951412" cy="361511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The center of the screen represents the origin position of the visualization.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Inner white marker representing yaw direction </a:t>
            </a: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023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3DBAA71-1763-27FC-1FC7-0DF047199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Godot (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Open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 source 2d and 3d game 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engine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)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5955D5B-692C-A397-250E-EA09B82F0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err="1"/>
              <a:t>Visualize</a:t>
            </a:r>
            <a:r>
              <a:rPr lang="sv-SE"/>
              <a:t> </a:t>
            </a:r>
            <a:r>
              <a:rPr lang="sv-SE" err="1"/>
              <a:t>orientation</a:t>
            </a:r>
            <a:r>
              <a:rPr lang="sv-SE"/>
              <a:t> in a 3d </a:t>
            </a:r>
            <a:r>
              <a:rPr lang="sv-SE" err="1"/>
              <a:t>enviroment</a:t>
            </a:r>
            <a:endParaRPr lang="sv-SE"/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977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F31D827-38C5-5DEF-2EE2-414BD1B5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sv-SE" sz="2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Godot Implementation</a:t>
            </a:r>
            <a:endParaRPr lang="sv-SE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349D909-F982-5BAA-4934-0CF254263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3192" y="2666999"/>
                <a:ext cx="3643674" cy="3216276"/>
              </a:xfrm>
            </p:spPr>
            <p:txBody>
              <a:bodyPr>
                <a:normAutofit/>
              </a:bodyPr>
              <a:lstStyle/>
              <a:p>
                <a:r>
                  <a:rPr lang="sv-SE" sz="1800"/>
                  <a:t>Godot </a:t>
                </a:r>
                <a:r>
                  <a:rPr lang="sv-SE" sz="1800" err="1"/>
                  <a:t>orientation</a:t>
                </a:r>
                <a:r>
                  <a:rPr lang="sv-SE" sz="1800"/>
                  <a:t> match game</a:t>
                </a:r>
              </a:p>
              <a:p>
                <a:r>
                  <a:rPr lang="sv-SE" sz="1800"/>
                  <a:t>The </a:t>
                </a:r>
                <a:r>
                  <a:rPr lang="sv-SE" sz="1800" err="1"/>
                  <a:t>goal</a:t>
                </a:r>
                <a:r>
                  <a:rPr lang="sv-SE" sz="1800"/>
                  <a:t> is to match </a:t>
                </a:r>
                <a:r>
                  <a:rPr lang="sv-SE" sz="1800" err="1"/>
                  <a:t>blue</a:t>
                </a:r>
                <a:r>
                  <a:rPr lang="sv-SE" sz="1800"/>
                  <a:t> </a:t>
                </a:r>
                <a:r>
                  <a:rPr lang="sv-SE" sz="1800" err="1"/>
                  <a:t>cube’s</a:t>
                </a:r>
                <a:r>
                  <a:rPr lang="sv-SE" sz="1800"/>
                  <a:t> </a:t>
                </a:r>
                <a:r>
                  <a:rPr lang="sv-SE" sz="1800" err="1"/>
                  <a:t>orientation</a:t>
                </a:r>
                <a:r>
                  <a:rPr lang="sv-SE" sz="1800"/>
                  <a:t> to green </a:t>
                </a:r>
                <a:r>
                  <a:rPr lang="sv-SE" sz="1800" err="1"/>
                  <a:t>cube</a:t>
                </a:r>
                <a:r>
                  <a:rPr lang="sv-SE" sz="1800"/>
                  <a:t> </a:t>
                </a:r>
                <a:r>
                  <a:rPr lang="sv-SE" sz="1800" err="1"/>
                  <a:t>using</a:t>
                </a:r>
                <a:r>
                  <a:rPr lang="sv-SE" sz="1800"/>
                  <a:t> </a:t>
                </a:r>
                <a:r>
                  <a:rPr lang="sv-SE" sz="1800" err="1"/>
                  <a:t>device’s</a:t>
                </a:r>
                <a:r>
                  <a:rPr lang="sv-SE" sz="1800"/>
                  <a:t> </a:t>
                </a:r>
                <a:r>
                  <a:rPr lang="sv-SE" sz="1800" err="1"/>
                  <a:t>orientation</a:t>
                </a:r>
                <a:r>
                  <a:rPr lang="sv-SE" sz="1800"/>
                  <a:t> data</a:t>
                </a:r>
              </a:p>
              <a:p>
                <a:r>
                  <a:rPr lang="sv-SE" sz="1800"/>
                  <a:t>The system </a:t>
                </a:r>
                <a:r>
                  <a:rPr lang="sv-SE" sz="1800" err="1"/>
                  <a:t>caculates</a:t>
                </a:r>
                <a:r>
                  <a:rPr lang="sv-SE" sz="1800"/>
                  <a:t> </a:t>
                </a:r>
                <a:r>
                  <a:rPr lang="sv-SE" sz="1800" err="1"/>
                  <a:t>error</a:t>
                </a:r>
                <a:r>
                  <a:rPr lang="sv-SE" sz="1800"/>
                  <a:t> </a:t>
                </a:r>
                <a:r>
                  <a:rPr lang="sv-SE" sz="1800" err="1"/>
                  <a:t>values</a:t>
                </a:r>
                <a:r>
                  <a:rPr lang="sv-SE" sz="1800"/>
                  <a:t> and shows </a:t>
                </a:r>
                <a:r>
                  <a:rPr lang="sv-SE" sz="1800" err="1"/>
                  <a:t>matches</a:t>
                </a:r>
                <a:r>
                  <a:rPr lang="sv-SE" sz="1800"/>
                  <a:t> </a:t>
                </a:r>
                <a:r>
                  <a:rPr lang="sv-SE" sz="1800" err="1"/>
                  <a:t>within</a:t>
                </a:r>
                <a:r>
                  <a:rPr lang="sv-SE" sz="1800"/>
                  <a:t> </a:t>
                </a:r>
                <a14:m>
                  <m:oMath xmlns:m="http://schemas.openxmlformats.org/officeDocument/2006/math">
                    <m:r>
                      <a:rPr lang="sv-SE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GB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  <m:r>
                      <a:rPr lang="sv-SE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sv-SE" sz="1800"/>
              </a:p>
            </p:txBody>
          </p:sp>
        </mc:Choice>
        <mc:Fallback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349D909-F982-5BAA-4934-0CF254263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3192" y="2666999"/>
                <a:ext cx="3643674" cy="3216276"/>
              </a:xfrm>
              <a:blipFill>
                <a:blip r:embed="rId3"/>
                <a:stretch>
                  <a:fillRect l="-234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C552B5D-7F3C-6CE4-3989-1220CC4C0A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94" y="1678153"/>
            <a:ext cx="6916633" cy="3181652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49180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29A78AD-EF5E-A3A0-99A8-0D6A553F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Upcoming laboratory exercise: Lab b.4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B79FA1F-9BE7-5F4B-9CCA-DB1E6C1A2E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Real-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time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visualisation</a:t>
            </a:r>
            <a:endParaRPr lang="sv-SE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Comparasion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between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orientation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estimation</a:t>
            </a:r>
            <a:r>
              <a:rPr lang="sv-S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sv-S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methods</a:t>
            </a:r>
            <a:endParaRPr lang="sv-SE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357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39889E0-43A6-D72B-6A10-B6D12AAA8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Resources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F19A7E9-532C-7614-C42C-6B5E0EE39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Godot Engine: </a:t>
            </a:r>
            <a:r>
              <a:rPr lang="en-GB" u="sng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https://godotengine.org/</a:t>
            </a:r>
            <a:endParaRPr lang="en-SE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/>
            </a:endParaRPr>
          </a:p>
          <a:p>
            <a:pPr lvl="0"/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Android implementation: </a:t>
            </a:r>
            <a:r>
              <a:rPr lang="en-GB" u="sng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https://github.com/Hadiseh04/Madgwick</a:t>
            </a:r>
            <a:endParaRPr lang="en-GB" u="sng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/>
            </a:endParaRPr>
          </a:p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 Lab B.4 Instru</a:t>
            </a:r>
            <a:r>
              <a:rPr lang="en-GB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ctions: </a:t>
            </a:r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4"/>
              </a:rPr>
              <a:t>Madgwick/Lab B.4.pdf at main · Hadiseh04/Madgwick</a:t>
            </a:r>
          </a:p>
        </p:txBody>
      </p:sp>
    </p:spTree>
    <p:extLst>
      <p:ext uri="{BB962C8B-B14F-4D97-AF65-F5344CB8AC3E}">
        <p14:creationId xmlns:p14="http://schemas.microsoft.com/office/powerpoint/2010/main" val="3293078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Bredbild</PresentationFormat>
  <Slides>14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14</vt:i4>
      </vt:variant>
    </vt:vector>
  </HeadingPairs>
  <TitlesOfParts>
    <vt:vector size="15" baseType="lpstr">
      <vt:lpstr>Mesh</vt:lpstr>
      <vt:lpstr>IMU sensor fusion and orientation estimation</vt:lpstr>
      <vt:lpstr>Components of an IMU</vt:lpstr>
      <vt:lpstr>Why sensor fusion?</vt:lpstr>
      <vt:lpstr>Orientation angles</vt:lpstr>
      <vt:lpstr>Method 1: Accelerometer + EWMA</vt:lpstr>
      <vt:lpstr>Method 2: complementary filter</vt:lpstr>
      <vt:lpstr>Method 3: Madgwick algoritm</vt:lpstr>
      <vt:lpstr>Comparison</vt:lpstr>
      <vt:lpstr>Implementation Across mobile plattforms</vt:lpstr>
      <vt:lpstr>Android implementation</vt:lpstr>
      <vt:lpstr>Godot (Open source 2d and 3d game engine)</vt:lpstr>
      <vt:lpstr>Godot Implementation</vt:lpstr>
      <vt:lpstr>Upcoming laboratory exercise: Lab b.4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26</cp:revision>
  <dcterms:created xsi:type="dcterms:W3CDTF">2026-05-18T04:49:32Z</dcterms:created>
  <dcterms:modified xsi:type="dcterms:W3CDTF">2026-09-01T11:57:47Z</dcterms:modified>
</cp:coreProperties>
</file>